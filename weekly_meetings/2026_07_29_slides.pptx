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132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Whose Beauty?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85800" y="13533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BAB"/>
                </a:solidFill>
              </a:rPr>
              <a:t>Results-driven supervision update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9019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Geographic and cultural conditioning effects in multimodal AI descriptions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578608"/>
            <a:ext cx="1874520" cy="320040"/>
          </a:xfrm>
          <a:prstGeom prst="rect">
            <a:avLst/>
          </a:prstGeom>
          <a:solidFill>
            <a:srgbClr val="F9E2EF"/>
          </a:solidFill>
          <a:ln>
            <a:solidFill>
              <a:srgbClr val="F9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AB"/>
                </a:solidFill>
              </a:rPr>
              <a:t>Gemini-only pilot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2578608"/>
            <a:ext cx="1234440" cy="320040"/>
          </a:xfrm>
          <a:prstGeom prst="rect">
            <a:avLst/>
          </a:prstGeom>
          <a:solidFill>
            <a:srgbClr val="F9E2EF"/>
          </a:solidFill>
          <a:ln>
            <a:solidFill>
              <a:srgbClr val="F9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AB"/>
                </a:solidFill>
              </a:rPr>
              <a:t>10 images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2578608"/>
            <a:ext cx="1508760" cy="320040"/>
          </a:xfrm>
          <a:prstGeom prst="rect">
            <a:avLst/>
          </a:prstGeom>
          <a:solidFill>
            <a:srgbClr val="F9E2EF"/>
          </a:solidFill>
          <a:ln>
            <a:solidFill>
              <a:srgbClr val="F9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AB"/>
                </a:solidFill>
              </a:rPr>
              <a:t>150 responses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2578608"/>
            <a:ext cx="1874520" cy="320040"/>
          </a:xfrm>
          <a:prstGeom prst="rect">
            <a:avLst/>
          </a:prstGeom>
          <a:solidFill>
            <a:srgbClr val="F9E2EF"/>
          </a:solidFill>
          <a:ln>
            <a:solidFill>
              <a:srgbClr val="F9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AB"/>
                </a:solidFill>
              </a:rPr>
              <a:t>NLP + statistics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32238"/>
                </a:solidFill>
              </a:rPr>
              <a:t>Focus today: results, statistical evidence, reproducible pipeline, and publication potential.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6309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Adebisi Adedeji  •  MSc Data Science  •  Supervision meeting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6309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PROGRESS EVIDENCE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has been delivered against the supervision brief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5435194" cy="6051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Supervisor requirement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104534" y="1234440"/>
            <a:ext cx="5435194" cy="6051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Notebook evidence / 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846859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Freeze design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104534" y="1846859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One multimodal model; one prompt template; no-country control; four country labels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658368" y="2459279"/>
            <a:ext cx="5435194" cy="6051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Proper pilot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104534" y="2459279"/>
            <a:ext cx="5435194" cy="6051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10 images × 5 conditions × 3 repeats = 150 model responses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58368" y="3071698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Not only manual reading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104534" y="3071698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NLP variables extracted; summary tables; figures; statistical tests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58368" y="3684118"/>
            <a:ext cx="5435194" cy="6051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Scientific measures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104534" y="3684118"/>
            <a:ext cx="5435194" cy="6051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Semantic shift, sentiment, adjective categories, unsupported inference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58368" y="4296537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Hypothesis link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104534" y="4296537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Each measure defined as a testable indicator of geographic-conditioning effects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58368" y="4908956"/>
            <a:ext cx="5435194" cy="6051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Produce results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104534" y="4908956"/>
            <a:ext cx="5435194" cy="6051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Figures, tables, representative examples, Friedman and Wilcoxon results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58368" y="5521376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Reproducibility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104534" y="5521376"/>
            <a:ext cx="5435194" cy="6051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63238"/>
                </a:solidFill>
              </a:rPr>
              <a:t>Raw responses, processed data, figures, tables, examples and protocol saved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IMPLEMENTATION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Frozen experimental design: controlled repeated-measures pilot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multimodal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Gemini 3.5 Flash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</a:rPr>
              <a:t>10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834640" y="1856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images analysed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</a:rPr>
              <a:t>5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663440" y="1856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conditions per image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294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629400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repeats per condition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73252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238"/>
                </a:solidFill>
              </a:rPr>
              <a:t>150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732520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responses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2788920"/>
            <a:ext cx="5000854" cy="4892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Component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63386" y="2788920"/>
            <a:ext cx="5000854" cy="4892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configuration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51560" y="3285439"/>
            <a:ext cx="5000854" cy="4892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Control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63386" y="3285439"/>
            <a:ext cx="5000854" cy="4892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No-country image description prompt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3781958"/>
            <a:ext cx="5000854" cy="4892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Country labels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63386" y="3781958"/>
            <a:ext cx="5000854" cy="4892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Nigeria, India, Saudi Arabia, United Kingdom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4278478"/>
            <a:ext cx="5000854" cy="4892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Unit of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63386" y="4278478"/>
            <a:ext cx="5000854" cy="4892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Generated response, grouped by image × condition × repeat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51560" y="4774997"/>
            <a:ext cx="5000854" cy="4892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Comparison logic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63386" y="4774997"/>
            <a:ext cx="5000854" cy="4892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Country-conditioned output compared against the corresponding no-country control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51560" y="5271516"/>
            <a:ext cx="5000854" cy="4892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Design rationale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63386" y="5271516"/>
            <a:ext cx="5000854" cy="4892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Within-image comparison reduces image-to-image confounding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NLP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Reproducible analysis pipeline now exists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691640" cy="694944"/>
          </a:xfrm>
          <a:prstGeom prst="rect">
            <a:avLst/>
          </a:prstGeom>
          <a:solidFill>
            <a:srgbClr val="FFF4F8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1. Input images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132238"/>
                </a:solidFill>
              </a:rPr>
              <a:t>10 pilot images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2468880" y="1298448"/>
            <a:ext cx="169164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2. Gemini generation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5 conditions × 3 repeats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370832" y="1298448"/>
            <a:ext cx="1691640" cy="694944"/>
          </a:xfrm>
          <a:prstGeom prst="rect">
            <a:avLst/>
          </a:prstGeom>
          <a:solidFill>
            <a:srgbClr val="FFF4F8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3. Structured parsing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JSON fields extracted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6272784" y="1298448"/>
            <a:ext cx="169164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4. NLP measures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Sentiment, adjectives, semantic shift, inference coding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174736" y="1298448"/>
            <a:ext cx="1691640" cy="694944"/>
          </a:xfrm>
          <a:prstGeom prst="rect">
            <a:avLst/>
          </a:prstGeom>
          <a:solidFill>
            <a:srgbClr val="FFF4F8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5. Statistics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Friedman + Wilcoxon + Bonferroni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0076688" y="1298448"/>
            <a:ext cx="1691640" cy="694944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6. Outputs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32238"/>
                </a:solidFill>
              </a:rPr>
              <a:t>CSV tables, figures, examples, protocol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5343754" cy="457461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Saved output type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31966" y="2743200"/>
            <a:ext cx="5343754" cy="457461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Evidence generated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3207976"/>
            <a:ext cx="5343754" cy="457461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Raw responses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131966" y="3207976"/>
            <a:ext cx="5343754" cy="457461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Original Gemini outputs retained separately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77240" y="3672753"/>
            <a:ext cx="5343754" cy="457461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Processed dataset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131966" y="3672753"/>
            <a:ext cx="5343754" cy="457461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analysis_dataset.csv with 150 rows and 29 columns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77240" y="4137529"/>
            <a:ext cx="5343754" cy="457461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Semantic-shift results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131966" y="4137529"/>
            <a:ext cx="5343754" cy="457461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Per-response embedding distance from no-country control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77240" y="4602306"/>
            <a:ext cx="5343754" cy="457461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Tables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131966" y="4602306"/>
            <a:ext cx="5343754" cy="457461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Summary metrics; Friedman tests; Wilcoxon pairwise results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77240" y="5067082"/>
            <a:ext cx="5343754" cy="457461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Figures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131966" y="5067082"/>
            <a:ext cx="5343754" cy="457461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Unsupported inference, semantic shift and adjective-category plots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77240" y="5531859"/>
            <a:ext cx="5343754" cy="457461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Documentation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131966" y="5531859"/>
            <a:ext cx="5343754" cy="457461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Unsupported-inference coding protocol and representative examples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SCIENTIFIC BACKING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Scientific measures: definitions, hypotheses, expected evidence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650285" cy="615940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Measure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255618" y="1143000"/>
            <a:ext cx="3650285" cy="615940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Scientific definition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16875" y="1143000"/>
            <a:ext cx="3650285" cy="615940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Hypothesis tested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766255"/>
            <a:ext cx="3650285" cy="6159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Semantic shift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255618" y="1766255"/>
            <a:ext cx="3650285" cy="6159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Embedding distance from each country-conditioned response to its no-country control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916875" y="1766255"/>
            <a:ext cx="3650285" cy="6159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Country labels change the semantic content of descriptions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94360" y="2389510"/>
            <a:ext cx="3650285" cy="6159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Sentiment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255618" y="2389510"/>
            <a:ext cx="3650285" cy="6159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Valence score of generated description text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916875" y="2389510"/>
            <a:ext cx="3650285" cy="6159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Country labels shift evaluative tone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94360" y="3012765"/>
            <a:ext cx="3650285" cy="6159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Adjective categories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255618" y="3012765"/>
            <a:ext cx="3650285" cy="6159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Extracted adjectives grouped into fixed semantic categories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916875" y="3012765"/>
            <a:ext cx="3650285" cy="6159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Country labels alter descriptive framing of appearance/status/warmth/etc.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94360" y="3636020"/>
            <a:ext cx="3650285" cy="6159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Unsupported inference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255618" y="3636020"/>
            <a:ext cx="3650285" cy="6159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Binary code for non-visible claims about occupation, personality, religion, socioeconomic status or culture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916875" y="3636020"/>
            <a:ext cx="3650285" cy="6159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Country labels increase or redistribute unsupported assumptions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60120" y="4572000"/>
            <a:ext cx="4709160" cy="868680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Dᵢ,꜀ = 1 − cos( e(yᵢ,꜀), e(yᵢ,₀) 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4480560" cy="868680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Uᵢ,꜀ = 1  if unsupported claim present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Uᵢ,꜀ = 0  otherwise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5687568"/>
            <a:ext cx="99669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Key point: observations are operationalised into measurable variables rather than judged anecdotally.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RESULT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shift: measurable but not different across countries in the pilot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4937760" cy="566928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Dᵢ,꜀ = 1 − cos( e(yᵢ,꜀), e(yᵢ,₀) )</a:t>
            </a:r>
            <a:endParaRPr lang="en-US" sz="1800" dirty="0"/>
          </a:p>
        </p:txBody>
      </p:sp>
      <p:pic>
        <p:nvPicPr>
          <p:cNvPr id="7" name="Image 0" descr="/mnt/data/extracted_imgs/fig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90113"/>
            <a:ext cx="5166360" cy="3078942"/>
          </a:xfrm>
          <a:prstGeom prst="rect">
            <a:avLst/>
          </a:prstGeom>
        </p:spPr>
      </p:pic>
      <p:pic>
        <p:nvPicPr>
          <p:cNvPr id="8" name="Image 1" descr="/mnt/data/extracted_imgs/fig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15822"/>
            <a:ext cx="5532120" cy="39954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5394960"/>
            <a:ext cx="1088502" cy="147767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Condition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876715" y="5394960"/>
            <a:ext cx="1088502" cy="147767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Mean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976189" y="5394960"/>
            <a:ext cx="1088502" cy="147767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075664" y="5394960"/>
            <a:ext cx="1088502" cy="147767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Median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175138" y="5394960"/>
            <a:ext cx="1088502" cy="147767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77240" y="5550042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India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876715" y="5550042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0.1574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976189" y="5550042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0.0579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075664" y="5550042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0.1381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175138" y="5550042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30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777240" y="5705124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Nigeria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876715" y="5705124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0.1526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2976189" y="5705124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0.0714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075664" y="5705124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0.1340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175138" y="5705124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30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777240" y="5860207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Saudi Arabia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1876715" y="5860207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0.1571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976189" y="5860207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0.0671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075664" y="5860207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0.1546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175138" y="5860207"/>
            <a:ext cx="1088502" cy="147767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30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777240" y="6015289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United Kingdom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1876715" y="6015289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0.1599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2976189" y="6015289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0.0673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075664" y="6015289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0.1487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5175138" y="6015289"/>
            <a:ext cx="1088502" cy="14776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30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6537960" y="5440680"/>
            <a:ext cx="45262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</a:rPr>
              <a:t>Friedman χ² = 0.960; p = 0.8109 → no country-level semantic-distance difference detected.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RESULT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Unsupported inference: strongest evidence of geographic-conditioning effects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5577840" cy="566928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Unsupported inference = non-visible occupational, personality, religious, socioeconomic or cultural claim</a:t>
            </a:r>
            <a:endParaRPr lang="en-US" sz="1800" dirty="0"/>
          </a:p>
        </p:txBody>
      </p:sp>
      <p:pic>
        <p:nvPicPr>
          <p:cNvPr id="7" name="Image 0" descr="/mnt/data/extracted_imgs/fig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98864"/>
            <a:ext cx="5650992" cy="3371168"/>
          </a:xfrm>
          <a:prstGeom prst="rect">
            <a:avLst/>
          </a:prstGeom>
        </p:spPr>
      </p:pic>
      <p:pic>
        <p:nvPicPr>
          <p:cNvPr id="8" name="Image 1" descr="/mnt/data/extracted_imgs/fig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75689"/>
            <a:ext cx="5349240" cy="29007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440680"/>
            <a:ext cx="2141525" cy="112776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Condition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2975458" y="5440680"/>
            <a:ext cx="2141525" cy="112776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Rate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127955" y="5440680"/>
            <a:ext cx="2141525" cy="112776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Main visible signal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22960" y="5560771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India</a:t>
            </a:r>
            <a:endParaRPr lang="en-US" sz="720" dirty="0"/>
          </a:p>
        </p:txBody>
      </p:sp>
      <p:sp>
        <p:nvSpPr>
          <p:cNvPr id="13" name="Text 9"/>
          <p:cNvSpPr/>
          <p:nvPr/>
        </p:nvSpPr>
        <p:spPr>
          <a:xfrm>
            <a:off x="2975458" y="5560771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0.467</a:t>
            </a:r>
            <a:endParaRPr lang="en-US" sz="720" dirty="0"/>
          </a:p>
        </p:txBody>
      </p:sp>
      <p:sp>
        <p:nvSpPr>
          <p:cNvPr id="14" name="Text 10"/>
          <p:cNvSpPr/>
          <p:nvPr/>
        </p:nvSpPr>
        <p:spPr>
          <a:xfrm>
            <a:off x="5127955" y="5560771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Highest country-conditioned rate</a:t>
            </a:r>
            <a:endParaRPr lang="en-US" sz="720" dirty="0"/>
          </a:p>
        </p:txBody>
      </p:sp>
      <p:sp>
        <p:nvSpPr>
          <p:cNvPr id="15" name="Text 11"/>
          <p:cNvSpPr/>
          <p:nvPr/>
        </p:nvSpPr>
        <p:spPr>
          <a:xfrm>
            <a:off x="822960" y="5680862"/>
            <a:ext cx="2141525" cy="11277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United Kingdom</a:t>
            </a:r>
            <a:endParaRPr lang="en-US" sz="720" dirty="0"/>
          </a:p>
        </p:txBody>
      </p:sp>
      <p:sp>
        <p:nvSpPr>
          <p:cNvPr id="16" name="Text 12"/>
          <p:cNvSpPr/>
          <p:nvPr/>
        </p:nvSpPr>
        <p:spPr>
          <a:xfrm>
            <a:off x="2975458" y="5680862"/>
            <a:ext cx="2141525" cy="11277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0.333</a:t>
            </a:r>
            <a:endParaRPr lang="en-US" sz="720" dirty="0"/>
          </a:p>
        </p:txBody>
      </p:sp>
      <p:sp>
        <p:nvSpPr>
          <p:cNvPr id="17" name="Text 13"/>
          <p:cNvSpPr/>
          <p:nvPr/>
        </p:nvSpPr>
        <p:spPr>
          <a:xfrm>
            <a:off x="5127955" y="5680862"/>
            <a:ext cx="2141525" cy="11277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Moderate inference rate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822960" y="5800954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Nigeria</a:t>
            </a:r>
            <a:endParaRPr lang="en-US" sz="720" dirty="0"/>
          </a:p>
        </p:txBody>
      </p:sp>
      <p:sp>
        <p:nvSpPr>
          <p:cNvPr id="19" name="Text 15"/>
          <p:cNvSpPr/>
          <p:nvPr/>
        </p:nvSpPr>
        <p:spPr>
          <a:xfrm>
            <a:off x="2975458" y="5800954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0.267</a:t>
            </a:r>
            <a:endParaRPr lang="en-US" sz="720" dirty="0"/>
          </a:p>
        </p:txBody>
      </p:sp>
      <p:sp>
        <p:nvSpPr>
          <p:cNvPr id="20" name="Text 16"/>
          <p:cNvSpPr/>
          <p:nvPr/>
        </p:nvSpPr>
        <p:spPr>
          <a:xfrm>
            <a:off x="5127955" y="5800954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Lower than India/UK</a:t>
            </a:r>
            <a:endParaRPr lang="en-US" sz="720" dirty="0"/>
          </a:p>
        </p:txBody>
      </p:sp>
      <p:sp>
        <p:nvSpPr>
          <p:cNvPr id="21" name="Text 17"/>
          <p:cNvSpPr/>
          <p:nvPr/>
        </p:nvSpPr>
        <p:spPr>
          <a:xfrm>
            <a:off x="822960" y="5921045"/>
            <a:ext cx="2141525" cy="11277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Saudi Arabia</a:t>
            </a:r>
            <a:endParaRPr lang="en-US" sz="720" dirty="0"/>
          </a:p>
        </p:txBody>
      </p:sp>
      <p:sp>
        <p:nvSpPr>
          <p:cNvPr id="22" name="Text 18"/>
          <p:cNvSpPr/>
          <p:nvPr/>
        </p:nvSpPr>
        <p:spPr>
          <a:xfrm>
            <a:off x="2975458" y="5921045"/>
            <a:ext cx="2141525" cy="11277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0.133</a:t>
            </a:r>
            <a:endParaRPr lang="en-US" sz="720" dirty="0"/>
          </a:p>
        </p:txBody>
      </p:sp>
      <p:sp>
        <p:nvSpPr>
          <p:cNvPr id="23" name="Text 19"/>
          <p:cNvSpPr/>
          <p:nvPr/>
        </p:nvSpPr>
        <p:spPr>
          <a:xfrm>
            <a:off x="5127955" y="5921045"/>
            <a:ext cx="2141525" cy="11277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Lowest country-conditioned rate</a:t>
            </a:r>
            <a:endParaRPr lang="en-US" sz="720" dirty="0"/>
          </a:p>
        </p:txBody>
      </p:sp>
      <p:sp>
        <p:nvSpPr>
          <p:cNvPr id="24" name="Text 20"/>
          <p:cNvSpPr/>
          <p:nvPr/>
        </p:nvSpPr>
        <p:spPr>
          <a:xfrm>
            <a:off x="822960" y="6041136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Control</a:t>
            </a:r>
            <a:endParaRPr lang="en-US" sz="720" dirty="0"/>
          </a:p>
        </p:txBody>
      </p:sp>
      <p:sp>
        <p:nvSpPr>
          <p:cNvPr id="25" name="Text 21"/>
          <p:cNvSpPr/>
          <p:nvPr/>
        </p:nvSpPr>
        <p:spPr>
          <a:xfrm>
            <a:off x="2975458" y="6041136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0.500</a:t>
            </a:r>
            <a:endParaRPr lang="en-US" sz="720" dirty="0"/>
          </a:p>
        </p:txBody>
      </p:sp>
      <p:sp>
        <p:nvSpPr>
          <p:cNvPr id="26" name="Text 22"/>
          <p:cNvSpPr/>
          <p:nvPr/>
        </p:nvSpPr>
        <p:spPr>
          <a:xfrm>
            <a:off x="5127955" y="6041136"/>
            <a:ext cx="2141525" cy="11277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Control already contains unsupported assumptions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7498080" y="5458968"/>
            <a:ext cx="3657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Overall country-condition effect: Friedman χ² = 9.197; p = 0.0268.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STATISTICAL EVIDENCE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 statistics: significant omnibus result, cautious pairwise interpretation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2103486" cy="345643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Outcome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891699" y="1188720"/>
            <a:ext cx="2103486" cy="345643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06157" y="1188720"/>
            <a:ext cx="2103486" cy="345643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Statistic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20616" y="1188720"/>
            <a:ext cx="2103486" cy="345643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p-value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235074" y="1188720"/>
            <a:ext cx="2103486" cy="345643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Decision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1541678"/>
            <a:ext cx="2103486" cy="345643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Semantic shift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891699" y="1541678"/>
            <a:ext cx="2103486" cy="345643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Friedman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5006157" y="1541678"/>
            <a:ext cx="2103486" cy="345643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0.960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7120616" y="1541678"/>
            <a:ext cx="2103486" cy="345643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0.8109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9235074" y="1541678"/>
            <a:ext cx="2103486" cy="345643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Not significant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77240" y="1894637"/>
            <a:ext cx="2103486" cy="345643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Unsupported inference rate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891699" y="1894637"/>
            <a:ext cx="2103486" cy="345643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Friedman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5006157" y="1894637"/>
            <a:ext cx="2103486" cy="345643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9.197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120616" y="1894637"/>
            <a:ext cx="2103486" cy="345643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0.0268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9235074" y="1894637"/>
            <a:ext cx="2103486" cy="345643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63238"/>
                </a:solidFill>
              </a:rPr>
              <a:t>Significant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777240" y="2514600"/>
            <a:ext cx="2103486" cy="4248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Pairwise comparison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91699" y="2514600"/>
            <a:ext cx="2103486" cy="4248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Wilcoxon 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06157" y="2514600"/>
            <a:ext cx="2103486" cy="4248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Raw 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20616" y="2514600"/>
            <a:ext cx="2103486" cy="4248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Bonferroni 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235074" y="2514600"/>
            <a:ext cx="2103486" cy="42480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Significant?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" y="2946719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India vs Nigeria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2891699" y="2946719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1.5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5006157" y="2946719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0.0938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7120616" y="2946719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0.5625</a:t>
            </a:r>
            <a:endParaRPr lang="en-US" sz="910" dirty="0"/>
          </a:p>
        </p:txBody>
      </p:sp>
      <p:sp>
        <p:nvSpPr>
          <p:cNvPr id="30" name="Text 28"/>
          <p:cNvSpPr/>
          <p:nvPr/>
        </p:nvSpPr>
        <p:spPr>
          <a:xfrm>
            <a:off x="9235074" y="2946719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No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777240" y="3378839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India vs Saudi Arabia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2891699" y="3378839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0.0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5006157" y="3378839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0.0312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7120616" y="3378839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0.1875</a:t>
            </a:r>
            <a:endParaRPr lang="en-US" sz="910" dirty="0"/>
          </a:p>
        </p:txBody>
      </p:sp>
      <p:sp>
        <p:nvSpPr>
          <p:cNvPr id="35" name="Text 33"/>
          <p:cNvSpPr/>
          <p:nvPr/>
        </p:nvSpPr>
        <p:spPr>
          <a:xfrm>
            <a:off x="9235074" y="3378839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No</a:t>
            </a:r>
            <a:endParaRPr lang="en-US" sz="910" dirty="0"/>
          </a:p>
        </p:txBody>
      </p:sp>
      <p:sp>
        <p:nvSpPr>
          <p:cNvPr id="36" name="Text 34"/>
          <p:cNvSpPr/>
          <p:nvPr/>
        </p:nvSpPr>
        <p:spPr>
          <a:xfrm>
            <a:off x="777240" y="3810958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India vs United Kingdom</a:t>
            </a:r>
            <a:endParaRPr lang="en-US" sz="910" dirty="0"/>
          </a:p>
        </p:txBody>
      </p:sp>
      <p:sp>
        <p:nvSpPr>
          <p:cNvPr id="37" name="Text 35"/>
          <p:cNvSpPr/>
          <p:nvPr/>
        </p:nvSpPr>
        <p:spPr>
          <a:xfrm>
            <a:off x="2891699" y="3810958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4.0</a:t>
            </a:r>
            <a:endParaRPr lang="en-US" sz="910" dirty="0"/>
          </a:p>
        </p:txBody>
      </p:sp>
      <p:sp>
        <p:nvSpPr>
          <p:cNvPr id="38" name="Text 36"/>
          <p:cNvSpPr/>
          <p:nvPr/>
        </p:nvSpPr>
        <p:spPr>
          <a:xfrm>
            <a:off x="5006157" y="3810958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0.2500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7120616" y="3810958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1.0000</a:t>
            </a:r>
            <a:endParaRPr lang="en-US" sz="910" dirty="0"/>
          </a:p>
        </p:txBody>
      </p:sp>
      <p:sp>
        <p:nvSpPr>
          <p:cNvPr id="40" name="Text 38"/>
          <p:cNvSpPr/>
          <p:nvPr/>
        </p:nvSpPr>
        <p:spPr>
          <a:xfrm>
            <a:off x="9235074" y="3810958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No</a:t>
            </a:r>
            <a:endParaRPr lang="en-US" sz="910" dirty="0"/>
          </a:p>
        </p:txBody>
      </p:sp>
      <p:sp>
        <p:nvSpPr>
          <p:cNvPr id="41" name="Text 39"/>
          <p:cNvSpPr/>
          <p:nvPr/>
        </p:nvSpPr>
        <p:spPr>
          <a:xfrm>
            <a:off x="777240" y="4243077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Nigeria vs Saudi Arabia</a:t>
            </a:r>
            <a:endParaRPr lang="en-US" sz="910" dirty="0"/>
          </a:p>
        </p:txBody>
      </p:sp>
      <p:sp>
        <p:nvSpPr>
          <p:cNvPr id="42" name="Text 40"/>
          <p:cNvSpPr/>
          <p:nvPr/>
        </p:nvSpPr>
        <p:spPr>
          <a:xfrm>
            <a:off x="2891699" y="4243077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2.5</a:t>
            </a:r>
            <a:endParaRPr lang="en-US" sz="910" dirty="0"/>
          </a:p>
        </p:txBody>
      </p:sp>
      <p:sp>
        <p:nvSpPr>
          <p:cNvPr id="43" name="Text 41"/>
          <p:cNvSpPr/>
          <p:nvPr/>
        </p:nvSpPr>
        <p:spPr>
          <a:xfrm>
            <a:off x="5006157" y="4243077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0.3125</a:t>
            </a:r>
            <a:endParaRPr lang="en-US" sz="910" dirty="0"/>
          </a:p>
        </p:txBody>
      </p:sp>
      <p:sp>
        <p:nvSpPr>
          <p:cNvPr id="44" name="Text 42"/>
          <p:cNvSpPr/>
          <p:nvPr/>
        </p:nvSpPr>
        <p:spPr>
          <a:xfrm>
            <a:off x="7120616" y="4243077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1.0000</a:t>
            </a:r>
            <a:endParaRPr lang="en-US" sz="910" dirty="0"/>
          </a:p>
        </p:txBody>
      </p:sp>
      <p:sp>
        <p:nvSpPr>
          <p:cNvPr id="45" name="Text 43"/>
          <p:cNvSpPr/>
          <p:nvPr/>
        </p:nvSpPr>
        <p:spPr>
          <a:xfrm>
            <a:off x="9235074" y="4243077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No</a:t>
            </a:r>
            <a:endParaRPr lang="en-US" sz="910" dirty="0"/>
          </a:p>
        </p:txBody>
      </p:sp>
      <p:sp>
        <p:nvSpPr>
          <p:cNvPr id="46" name="Text 44"/>
          <p:cNvSpPr/>
          <p:nvPr/>
        </p:nvSpPr>
        <p:spPr>
          <a:xfrm>
            <a:off x="777240" y="4675197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Nigeria vs United Kingdom</a:t>
            </a:r>
            <a:endParaRPr lang="en-US" sz="910" dirty="0"/>
          </a:p>
        </p:txBody>
      </p:sp>
      <p:sp>
        <p:nvSpPr>
          <p:cNvPr id="47" name="Text 45"/>
          <p:cNvSpPr/>
          <p:nvPr/>
        </p:nvSpPr>
        <p:spPr>
          <a:xfrm>
            <a:off x="2891699" y="4675197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2.5</a:t>
            </a:r>
            <a:endParaRPr lang="en-US" sz="910" dirty="0"/>
          </a:p>
        </p:txBody>
      </p:sp>
      <p:sp>
        <p:nvSpPr>
          <p:cNvPr id="48" name="Text 46"/>
          <p:cNvSpPr/>
          <p:nvPr/>
        </p:nvSpPr>
        <p:spPr>
          <a:xfrm>
            <a:off x="5006157" y="4675197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0.6250</a:t>
            </a:r>
            <a:endParaRPr lang="en-US" sz="910" dirty="0"/>
          </a:p>
        </p:txBody>
      </p:sp>
      <p:sp>
        <p:nvSpPr>
          <p:cNvPr id="49" name="Text 47"/>
          <p:cNvSpPr/>
          <p:nvPr/>
        </p:nvSpPr>
        <p:spPr>
          <a:xfrm>
            <a:off x="7120616" y="4675197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1.0000</a:t>
            </a:r>
            <a:endParaRPr lang="en-US" sz="910" dirty="0"/>
          </a:p>
        </p:txBody>
      </p:sp>
      <p:sp>
        <p:nvSpPr>
          <p:cNvPr id="50" name="Text 48"/>
          <p:cNvSpPr/>
          <p:nvPr/>
        </p:nvSpPr>
        <p:spPr>
          <a:xfrm>
            <a:off x="9235074" y="4675197"/>
            <a:ext cx="2103486" cy="42480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No</a:t>
            </a:r>
            <a:endParaRPr lang="en-US" sz="910" dirty="0"/>
          </a:p>
        </p:txBody>
      </p:sp>
      <p:sp>
        <p:nvSpPr>
          <p:cNvPr id="51" name="Text 49"/>
          <p:cNvSpPr/>
          <p:nvPr/>
        </p:nvSpPr>
        <p:spPr>
          <a:xfrm>
            <a:off x="777240" y="5107316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Saudi Arabia vs United Kingdom</a:t>
            </a:r>
            <a:endParaRPr lang="en-US" sz="910" dirty="0"/>
          </a:p>
        </p:txBody>
      </p:sp>
      <p:sp>
        <p:nvSpPr>
          <p:cNvPr id="52" name="Text 50"/>
          <p:cNvSpPr/>
          <p:nvPr/>
        </p:nvSpPr>
        <p:spPr>
          <a:xfrm>
            <a:off x="2891699" y="5107316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0.0</a:t>
            </a:r>
            <a:endParaRPr lang="en-US" sz="910" dirty="0"/>
          </a:p>
        </p:txBody>
      </p:sp>
      <p:sp>
        <p:nvSpPr>
          <p:cNvPr id="53" name="Text 51"/>
          <p:cNvSpPr/>
          <p:nvPr/>
        </p:nvSpPr>
        <p:spPr>
          <a:xfrm>
            <a:off x="5006157" y="5107316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0.0625</a:t>
            </a:r>
            <a:endParaRPr lang="en-US" sz="910" dirty="0"/>
          </a:p>
        </p:txBody>
      </p:sp>
      <p:sp>
        <p:nvSpPr>
          <p:cNvPr id="54" name="Text 52"/>
          <p:cNvSpPr/>
          <p:nvPr/>
        </p:nvSpPr>
        <p:spPr>
          <a:xfrm>
            <a:off x="7120616" y="5107316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0.3750</a:t>
            </a:r>
            <a:endParaRPr lang="en-US" sz="910" dirty="0"/>
          </a:p>
        </p:txBody>
      </p:sp>
      <p:sp>
        <p:nvSpPr>
          <p:cNvPr id="55" name="Text 53"/>
          <p:cNvSpPr/>
          <p:nvPr/>
        </p:nvSpPr>
        <p:spPr>
          <a:xfrm>
            <a:off x="9235074" y="5107316"/>
            <a:ext cx="2103486" cy="42480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63238"/>
                </a:solidFill>
              </a:rPr>
              <a:t>No</a:t>
            </a:r>
            <a:endParaRPr lang="en-US" sz="910" dirty="0"/>
          </a:p>
        </p:txBody>
      </p:sp>
      <p:sp>
        <p:nvSpPr>
          <p:cNvPr id="56" name="Text 54"/>
          <p:cNvSpPr/>
          <p:nvPr/>
        </p:nvSpPr>
        <p:spPr>
          <a:xfrm>
            <a:off x="914400" y="5760720"/>
            <a:ext cx="100584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</a:rPr>
              <a:t>Defensible claim: the pilot detects an overall difference in unsupported-inference rate, but the sample is too small to confirm pairwise country differences after correction.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RESULT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Adjective categories: fixed taxonomy implemented; signal currently concentrated in appearance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  <p:pic>
        <p:nvPicPr>
          <p:cNvPr id="6" name="Image 0" descr="/mnt/data/extracted_imgs/fig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1511"/>
            <a:ext cx="5806440" cy="34885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234440"/>
            <a:ext cx="882396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Condition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202729" y="1234440"/>
            <a:ext cx="882396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Appearance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96098" y="1234440"/>
            <a:ext cx="882396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Prof./competence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989466" y="1234440"/>
            <a:ext cx="882396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Warmth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82835" y="1234440"/>
            <a:ext cx="882396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Modernity/traditionalism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776204" y="1234440"/>
            <a:ext cx="882396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Socioeconomic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309360" y="1639519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India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202729" y="1639519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2.433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8096098" y="1639519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8989466" y="1639519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0.300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9882835" y="1639519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10776204" y="1639519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6309360" y="2044598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Nigeria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7202729" y="2044598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2.600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8096098" y="2044598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8989466" y="2044598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0.300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9882835" y="2044598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0776204" y="2044598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6309360" y="2449678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Saudi Arabia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202729" y="2449678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2.500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8096098" y="2449678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0.067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8989466" y="2449678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0.233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9882835" y="2449678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0776204" y="2449678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309360" y="2854757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United Kingdom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7202729" y="2854757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2.700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8096098" y="2854757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0.033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8989466" y="2854757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0.333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9882835" y="2854757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10776204" y="2854757"/>
            <a:ext cx="882396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6309360" y="3259836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Control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7202729" y="3259836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2.567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8096098" y="3259836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0.033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8989466" y="3259836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0.300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9882835" y="3259836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0.033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10776204" y="3259836"/>
            <a:ext cx="882396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63238"/>
                </a:solidFill>
              </a:rPr>
              <a:t>0.000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6492240" y="4069080"/>
            <a:ext cx="4800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60" dirty="0">
                <a:solidFill>
                  <a:srgbClr val="263238"/>
                </a:solidFill>
              </a:rPr>
              <a:t>The fixed categories requested in supervision were implemented.
</a:t>
            </a:r>
            <a:endParaRPr lang="en-US" sz="1160" dirty="0"/>
          </a:p>
          <a:p>
            <a:r>
              <a:rPr lang="en-US" sz="1160" dirty="0">
                <a:solidFill>
                  <a:srgbClr val="263238"/>
                </a:solidFill>
              </a:rPr>
              <a:t>Most adjectives are visible appearance descriptors; status/modernity terms are rare.
</a:t>
            </a:r>
            <a:endParaRPr lang="en-US" sz="1160" dirty="0"/>
          </a:p>
          <a:p>
            <a:r>
              <a:rPr lang="en-US" sz="1160" dirty="0">
                <a:solidFill>
                  <a:srgbClr val="263238"/>
                </a:solidFill>
              </a:rPr>
              <a:t>This is useful methodological evidence: the category lexicon needs refinement before publication-level claims.
</a:t>
            </a:r>
            <a:endParaRPr lang="en-US" sz="11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RESULT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Sentiment: descriptive secondary evidence, not the main signal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2130918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Condition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19131" y="1280160"/>
            <a:ext cx="2130918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Sentiment mean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61021" y="1280160"/>
            <a:ext cx="2130918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Sentiment SD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02912" y="1280160"/>
            <a:ext cx="2130918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44802" y="1280160"/>
            <a:ext cx="2130918" cy="3977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Interpretation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1685239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India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919131" y="1685239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0.290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061021" y="1685239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0.327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202912" y="1685239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30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344802" y="1685239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Modest positive valence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77240" y="2090318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Nigeria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919131" y="2090318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0.294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061021" y="2090318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0.299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202912" y="2090318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30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344802" y="2090318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Similar to India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77240" y="2495398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Saudi Arabia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919131" y="2495398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0.278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061021" y="2495398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0.309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202912" y="2495398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30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344802" y="2495398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Close to control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77240" y="2900477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United Kingdom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919131" y="2900477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0.349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061021" y="2900477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0.278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7202912" y="2900477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30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344802" y="2900477"/>
            <a:ext cx="2130918" cy="3977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Highest mean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77240" y="3305556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Control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2919131" y="3305556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0.269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061021" y="3305556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0.259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7202912" y="3305556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30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9344802" y="3305556"/>
            <a:ext cx="2130918" cy="3977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63238"/>
                </a:solidFill>
              </a:rPr>
              <a:t>Baseline positive valence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1005840" y="4160520"/>
            <a:ext cx="4892040" cy="868680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H₁: country labels shift evaluative tone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Observed pilot range: 0.269–0.349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0" y="4187952"/>
            <a:ext cx="4572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</a:rPr>
              <a:t>Current conclusion: sentiment differences are small and should be treated as descriptive unless a formal repeated-measures test is added.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97280" y="5394960"/>
            <a:ext cx="9875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80" dirty="0">
                <a:solidFill>
                  <a:srgbClr val="263238"/>
                </a:solidFill>
              </a:rPr>
              <a:t>Keep sentiment as a supporting measure.
</a:t>
            </a:r>
            <a:endParaRPr lang="en-US" sz="1080" dirty="0"/>
          </a:p>
          <a:p>
            <a:r>
              <a:rPr lang="en-US" sz="1080" dirty="0">
                <a:solidFill>
                  <a:srgbClr val="263238"/>
                </a:solidFill>
              </a:rPr>
              <a:t>Do not overstate it as evidence of bias.
</a:t>
            </a:r>
            <a:endParaRPr lang="en-US" sz="1080" dirty="0"/>
          </a:p>
          <a:p>
            <a:r>
              <a:rPr lang="en-US" sz="1080" dirty="0">
                <a:solidFill>
                  <a:srgbClr val="263238"/>
                </a:solidFill>
              </a:rPr>
              <a:t>Use it to triangulate with inference/adjective findings in the larger study.
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QUALITATIVE EVIDENCE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examples show meaningful model behaviour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2185782" cy="497068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Condition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836835" y="1143000"/>
            <a:ext cx="2185782" cy="497068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33589" y="1143000"/>
            <a:ext cx="2185782" cy="497068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Semantic shift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30344" y="1143000"/>
            <a:ext cx="2185782" cy="497068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Inference type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427098" y="1143000"/>
            <a:ext cx="2185782" cy="497068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Example inference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1647383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India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836835" y="1647383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Jyothika Sahoo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033589" y="1647383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0.277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230344" y="1647383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Religious / cultural / marital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427098" y="1647383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South Asian or Hindu identity and married status inferred from visible markers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40080" y="2151766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Nigeria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836835" y="2151766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Kuwaiti man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33589" y="2151766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0.302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230344" y="2151766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Cultural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427098" y="2151766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Traditional Middle Eastern or Gulf Arab attire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40080" y="2656149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Saudi Arabia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2836835" y="2656149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Kuwaiti man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033589" y="2656149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0.223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230344" y="2656149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Cultural / heritage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9427098" y="2656149"/>
            <a:ext cx="2185782" cy="4970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Middle Eastern or Arab heritage inferred from traditional attire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40080" y="3160532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United Kingdom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836835" y="3160532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Kuwaiti man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033589" y="3160532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0.262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230344" y="3160532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Cultural / background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427098" y="3160532"/>
            <a:ext cx="2185782" cy="4970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63238"/>
                </a:solidFill>
              </a:rPr>
              <a:t>Middle Eastern or Arab cultural background inferred from attire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914400" y="4160520"/>
            <a:ext cx="10332720" cy="777240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Coding principle: if the claim cannot reasonably be established from visible image content alone, code the relevant inference category as present.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5257800"/>
            <a:ext cx="97840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This gives the project scientific grounding: quantitative results are supported by coded examples, not anecdotal reading.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CODING SCHEME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Unsupported-inference coding protocol is explicit and reproducible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5412334" cy="48158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Inference category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109106" y="1143000"/>
            <a:ext cx="5412334" cy="48158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Code as 1 when the output introduces…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631899"/>
            <a:ext cx="5412334" cy="48158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Occupational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09106" y="1631899"/>
            <a:ext cx="5412334" cy="48158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Job, role, rank, leadership or professional status not visible in the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20798"/>
            <a:ext cx="5412334" cy="4815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Personality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09106" y="2120798"/>
            <a:ext cx="5412334" cy="4815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Traits such as confident, humble, wealthy-looking, serious, kind, etc.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09698"/>
            <a:ext cx="5412334" cy="48158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Religious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09106" y="2609698"/>
            <a:ext cx="5412334" cy="48158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Religion, faith, sect, ritual identity, religious belonging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98597"/>
            <a:ext cx="5412334" cy="4815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Socioeconomic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09106" y="3098597"/>
            <a:ext cx="5412334" cy="4815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Class, wealth, royalty, high/low status, privilege, poverty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587496"/>
            <a:ext cx="5412334" cy="48158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Cultural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9106" y="3587496"/>
            <a:ext cx="5412334" cy="48158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Ethnicity, national background, tradition, heritage or cultural identity beyond visible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617720"/>
            <a:ext cx="9875520" cy="621792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Unsupported inference rate = number of responses with U = 1 ÷ total responses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5532120"/>
            <a:ext cx="99669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</a:rPr>
              <a:t>Current limitation: manual coding involves judgement; next step is double-coding / intercoder reliability for publication standard.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REPOSITORY EVIDENCE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 package: outputs needed for GitHub are defined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5206594" cy="500908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Repository component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040526" y="1097280"/>
            <a:ext cx="5206594" cy="500908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 / content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605504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prompts/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040526" y="1605504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Fixed prompt template and condition labels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822960" y="2113727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data/raw/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040526" y="2113727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Original unmodified Gemini responses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822960" y="2621951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data/processed/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040526" y="2621951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analysis_dataset.csv; semantic-shift data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822960" y="3130174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notebooks/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6040526" y="3130174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Complete analysis notebook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822960" y="3638398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figures/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6040526" y="3638398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Generated result plots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4146621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tables/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6040526" y="4146621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Summary tables and statistical test outputs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22960" y="4654845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examples/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6040526" y="4654845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Representative examples of meaningful behaviour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822960" y="5163068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documentation/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6040526" y="5163068"/>
            <a:ext cx="5206594" cy="50090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Unsupported-inference coding protocol and methodology notes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822960" y="5671292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slides/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040526" y="5671292"/>
            <a:ext cx="5206594" cy="50090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38"/>
                </a:solidFill>
              </a:rPr>
              <a:t>Weekly supervision presentation</a:t>
            </a:r>
            <a:endParaRPr lang="en-US" sz="9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RESEARCH STANDARD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Publication potential: strongest claim is methodological + preliminary empirical signal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3635045" cy="5501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Publication-standard element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04386" y="1143000"/>
            <a:ext cx="3635045" cy="5501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Current evidence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50403" y="1143000"/>
            <a:ext cx="3635045" cy="550164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What still needs strengthening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700479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Controlled design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304386" y="1700479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Within-image repeated-measures pilot implemented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950403" y="1700479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Scale beyond 10 images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58368" y="2257958"/>
            <a:ext cx="3635045" cy="5501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Reproducibility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304386" y="2257958"/>
            <a:ext cx="3635045" cy="5501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Raw data, processed data, figures and coding protocol saved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950403" y="2257958"/>
            <a:ext cx="3635045" cy="5501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Public GitHub with clean folder structure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58368" y="2815438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Quantitative measurement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304386" y="2815438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Four scientific measures implemented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950403" y="2815438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Add reliability checks and formal tests for all measures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58368" y="3372917"/>
            <a:ext cx="3635045" cy="5501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Statistical evidence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304386" y="3372917"/>
            <a:ext cx="3635045" cy="5501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Unsupported inference significant overall: p = 0.0268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950403" y="3372917"/>
            <a:ext cx="3635045" cy="5501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Larger sample for corrected pairwise effects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58368" y="3930396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Scientific contribution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304386" y="3930396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Framework quantifies geographic prompting effects in multimodal descriptions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950403" y="3930396"/>
            <a:ext cx="3635045" cy="550164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63238"/>
                </a:solidFill>
              </a:rPr>
              <a:t>Position as a reusable evaluation protocol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14400" y="4892040"/>
            <a:ext cx="10058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Recommended wording: “publication-oriented framework with preliminary evidence”, not “final publication-standard evidence” yet.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32238"/>
                </a:solidFill>
              </a:rPr>
              <a:t>Defensible central finding: unsupported inference is the most promising measurable signal of geographic-conditioning effects in the pilot.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BAB"/>
                </a:solidFill>
              </a:rPr>
              <a:t>ACTION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steps: convert pilot into a stronger dissertation study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19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MSc supervision update  |  Results &amp; scientific evidence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3543605" cy="568496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Priority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31818" y="1143000"/>
            <a:ext cx="3543605" cy="568496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86395" y="1143000"/>
            <a:ext cx="3543605" cy="568496"/>
          </a:xfrm>
          <a:prstGeom prst="rect">
            <a:avLst/>
          </a:prstGeom>
          <a:solidFill>
            <a:srgbClr val="132238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Reason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718811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31818" y="1718811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Upload complete reproducible pipeline to GitHub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86395" y="1718811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Meets supervision requirement and supports transparency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94621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31818" y="2294621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Expand dataset beyond 10 images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86395" y="2294621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Needed for power and publication-level robustness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870432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31818" y="2870432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Refine adjective taxonomy / lexicon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86395" y="2870432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Current signal is dominated by appearance descriptors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446243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31818" y="3446243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Double-code unsupported inferences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86395" y="3446243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Adds reliability evidence and reduces subjectivity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022054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31818" y="4022054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Add formal sentiment/adjective tests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6395" y="4022054"/>
            <a:ext cx="3543605" cy="568496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Makes all measures statistically defensible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597864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31818" y="4597864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Run final analysis on frozen design before model comparison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86395" y="4597864"/>
            <a:ext cx="3543605" cy="568496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</a:rPr>
              <a:t>Prevents scope creep and protects validity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5532120"/>
            <a:ext cx="9875520" cy="594360"/>
          </a:xfrm>
          <a:prstGeom prst="rect">
            <a:avLst/>
          </a:prstGeom>
          <a:solidFill>
            <a:srgbClr val="FFF4F8"/>
          </a:solidFill>
          <a:ln>
            <a:solidFill>
              <a:srgbClr val="F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322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Supervisor decision needed: keep pilot countries and scale sample, or revise country set before full run?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Middlesex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Whose Beauty? Supervision Results Presentation</dc:title>
  <dc:subject>MSc supervision update</dc:subject>
  <dc:creator>Adebisi Adedeji</dc:creator>
  <cp:lastModifiedBy>Adebisi Adedeji</cp:lastModifiedBy>
  <cp:revision>1</cp:revision>
  <dcterms:created xsi:type="dcterms:W3CDTF">2026-07-28T16:57:04Z</dcterms:created>
  <dcterms:modified xsi:type="dcterms:W3CDTF">2026-07-28T16:57:04Z</dcterms:modified>
</cp:coreProperties>
</file>